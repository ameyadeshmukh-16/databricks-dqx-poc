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94560"/>
                </a:solidFill>
              </a:rPr>
              <a:t>AI-Infused Data Quality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8DADC"/>
                </a:solidFill>
              </a:rPr>
              <a:t>Proof of Concept — Retail &amp; Wholesale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Assessment: AI Infusion in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Databricks  ·  Delta Lake  ·  Apache Kafka  ·  LLM-Powered Rule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1.  The Problem — Data quality at scale in retail operations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2.  The Vision — What AI-infused data quality looks like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3.  What We Built — POC overview and technology stack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4.  Phase-by-Phase Walkthrough — Five working components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5.  AI in Action — Where and how AI is infused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6.  Architecture Deep Dive — How it all connects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7.  Production Considerations — From POC to enterprise scale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8.  What We Proved — Key POC outcomes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333333"/>
                </a:solidFill>
              </a:rPr>
              <a:t>  9.  AI Infusion Opportunities —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1: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>Why data quality in retail needs to be smarter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The Data Quality Challenge in Retail &amp; Wholesale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3460"/>
                </a:solidFill>
              </a:rPr>
              <a:t>Every day, bad data costs 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493776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53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874519"/>
            <a:ext cx="612648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925319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58567"/>
            <a:ext cx="493776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9666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Incorrect pricing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258567"/>
            <a:ext cx="6126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296667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Revenue leakage, pricing disputes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4937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4413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Missing inventory quantities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606039"/>
            <a:ext cx="6126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644139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Stockouts or overstock decisions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53511"/>
            <a:ext cx="493776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9161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Duplicate transaction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953511"/>
            <a:ext cx="6126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2991611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Double-counting in financial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00983"/>
            <a:ext cx="4937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33908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Stale / out-of-order events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300983"/>
            <a:ext cx="6126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3339083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Wrong demand-forecasting inputs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48455"/>
            <a:ext cx="493776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8655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Corrupted supplier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648455"/>
            <a:ext cx="6126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3686555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Bad purchase order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49240"/>
            <a:ext cx="635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The hidden cost:  Most bad data is discovered after it has already influenced a decision — by the time it surfaces, the damage is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Why Traditional DQ Approaches Break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DD6F4"/>
                </a:solidFill>
              </a:rPr>
              <a:t>Manual Rule Writing  →  Slow to create, slow to update, misses new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Manual Rule Writing  →  Slow to create, slow to update, misses new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333333"/>
                </a:solidFill>
              </a:rPr>
              <a:t>•  A data engineer manually writes each validation rule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333333"/>
                </a:solidFill>
              </a:rPr>
              <a:t>•  Rules are written after a problem is discovered — reactive, not proactive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333333"/>
                </a:solidFill>
              </a:rPr>
              <a:t>•  Rules are rarely reviewed once written — stale rules pile up silently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333333"/>
                </a:solidFill>
              </a:rPr>
              <a:t>•  When source schemas change, rules silently become irrelevant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333333"/>
                </a:solidFill>
              </a:rPr>
              <a:t>•  No visibility into which rules are actually catching anything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333333"/>
                </a:solidFill>
              </a:rPr>
              <a:t>•  Streaming data adds real-time complexity that batch-only rules can't address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349240"/>
            <a:ext cx="635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The gap:  Data volumes and schema complexity are growing faster than a team can write and maintain rules by hand.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What We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508760"/>
            <a:ext cx="5074920" cy="4434840"/>
          </a:xfrm>
          <a:prstGeom prst="rect">
            <a:avLst/>
          </a:prstGeom>
          <a:solidFill>
            <a:srgbClr val="FFEDED"/>
          </a:solidFill>
          <a:ln w="2286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94560"/>
                </a:solidFill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E94560"/>
                </a:solidFill>
              </a:rPr>
              <a:t>Reactive  ·  Slow  ·  Brittle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13432"/>
            <a:ext cx="4526280" cy="127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46888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50">
                <a:solidFill>
                  <a:srgbClr val="55111A"/>
                </a:solidFill>
              </a:rPr>
              <a:t>•  Engineer writes every rule manually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55111A"/>
                </a:solidFill>
              </a:rPr>
              <a:t>•  Rules created after a problem surfaces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55111A"/>
                </a:solidFill>
              </a:rPr>
              <a:t>•  Stale rules pile up — never reviewed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55111A"/>
                </a:solidFill>
              </a:rPr>
              <a:t>•  Schema changes break rules silently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55111A"/>
                </a:solidFill>
              </a:rPr>
              <a:t>•  No visibility into rule effectiveness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200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F3460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85876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AI
Infusion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508760"/>
            <a:ext cx="5074920" cy="4434840"/>
          </a:xfrm>
          <a:prstGeom prst="rect">
            <a:avLst/>
          </a:prstGeom>
          <a:solidFill>
            <a:srgbClr val="E8F0FE"/>
          </a:solidFill>
          <a:ln w="2286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460"/>
                </a:solidFill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0F3460"/>
                </a:solidFill>
              </a:rPr>
              <a:t>Proactive  ·  Adaptive  ·  Governed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313432"/>
            <a:ext cx="4526280" cy="127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46888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50">
                <a:solidFill>
                  <a:srgbClr val="0A2244"/>
                </a:solidFill>
              </a:rPr>
              <a:t>•  AI analyses data and generates rules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0A2244"/>
                </a:solidFill>
              </a:rPr>
              <a:t>•  Rules suggested proactively from patterns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0A2244"/>
                </a:solidFill>
              </a:rPr>
              <a:t>•  Effectiveness tracked after every run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0A2244"/>
                </a:solidFill>
              </a:rPr>
              <a:t>•  Stale rules automatically detected</a:t>
            </a:r>
          </a:p>
          <a:p>
            <a:pPr>
              <a:spcBef>
                <a:spcPts val="1400"/>
              </a:spcBef>
            </a:pPr>
            <a:r>
              <a:rPr sz="1450">
                <a:solidFill>
                  <a:srgbClr val="0A2244"/>
                </a:solidFill>
              </a:rPr>
              <a:t>•  Human governance at every approval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080760"/>
            <a:ext cx="11338560" cy="5303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108192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Three shifts:   Batch → Real-time   ·   Manual → AI-Generated   ·   Static → Self-Improving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2: 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>An AI-infused system that writes, validates, and improves its own DQ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The AI Infusion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508760"/>
            <a:ext cx="75895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53619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CONTINUOUS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2286000" cy="566928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401"/>
          <a:lstStyle/>
          <a:p>
            <a:pPr algn="ctr"/>
            <a:r>
              <a:rPr sz="1250" b="0">
                <a:solidFill>
                  <a:srgbClr val="0F3460"/>
                </a:solidFill>
              </a:rPr>
              <a:t>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057400"/>
            <a:ext cx="2286000" cy="566928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401"/>
          <a:lstStyle/>
          <a:p>
            <a:pPr algn="ctr"/>
            <a:r>
              <a:rPr sz="1250" b="1">
                <a:solidFill>
                  <a:srgbClr val="0F3460"/>
                </a:solidFill>
              </a:rPr>
              <a:t>DQ Rule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057400"/>
            <a:ext cx="2286000" cy="566928"/>
          </a:xfrm>
          <a:prstGeom prst="rect">
            <a:avLst/>
          </a:prstGeom>
          <a:solidFill>
            <a:srgbClr val="E6F4EA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3926"/>
          <a:lstStyle/>
          <a:p>
            <a:pPr algn="ctr"/>
            <a:r>
              <a:rPr sz="1150" b="0">
                <a:solidFill>
                  <a:srgbClr val="1E7E34"/>
                </a:solidFill>
              </a:rPr>
              <a:t>✓  Clean Records
(analytics-ready)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6700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136392"/>
            <a:ext cx="2286000" cy="566928"/>
          </a:xfrm>
          <a:prstGeom prst="rect">
            <a:avLst/>
          </a:prstGeom>
          <a:solidFill>
            <a:srgbClr val="FFEDED"/>
          </a:solidFill>
          <a:ln w="1524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3926"/>
          <a:lstStyle/>
          <a:p>
            <a:pPr algn="ctr"/>
            <a:r>
              <a:rPr sz="1150" b="0">
                <a:solidFill>
                  <a:srgbClr val="E94560"/>
                </a:solidFill>
              </a:rPr>
              <a:t>✗  Quarantine Records
(rule violations)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2278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136392"/>
            <a:ext cx="2286000" cy="566928"/>
          </a:xfrm>
          <a:prstGeom prst="rect">
            <a:avLst/>
          </a:prstGeom>
          <a:solidFill>
            <a:srgbClr val="E4F6F1"/>
          </a:solidFill>
          <a:ln w="15240">
            <a:solidFill>
              <a:srgbClr val="0B8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401"/>
          <a:lstStyle/>
          <a:p>
            <a:pPr algn="ctr"/>
            <a:r>
              <a:rPr sz="1250" b="0">
                <a:solidFill>
                  <a:srgbClr val="0B8A6A"/>
                </a:solidFill>
              </a:rPr>
              <a:t>AI Analyses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3749039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749039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24528"/>
            <a:ext cx="2286000" cy="566928"/>
          </a:xfrm>
          <a:prstGeom prst="rect">
            <a:avLst/>
          </a:prstGeom>
          <a:solidFill>
            <a:srgbClr val="E6F4EA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3926"/>
          <a:lstStyle/>
          <a:p>
            <a:pPr algn="ctr"/>
            <a:r>
              <a:rPr sz="1150" b="0">
                <a:solidFill>
                  <a:srgbClr val="1E7E34"/>
                </a:solidFill>
              </a:rPr>
              <a:t>dq_rules_registry
(active rules)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3159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224528"/>
            <a:ext cx="2286000" cy="566928"/>
          </a:xfrm>
          <a:prstGeom prst="rect">
            <a:avLst/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3926"/>
          <a:lstStyle/>
          <a:p>
            <a:pPr algn="ctr"/>
            <a:r>
              <a:rPr sz="1150" b="0">
                <a:solidFill>
                  <a:srgbClr val="E65C00"/>
                </a:solidFill>
              </a:rPr>
              <a:t>Human Review
(approve / reject)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3159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224528"/>
            <a:ext cx="2286000" cy="566928"/>
          </a:xfrm>
          <a:prstGeom prst="rect">
            <a:avLst/>
          </a:prstGeom>
          <a:solidFill>
            <a:srgbClr val="E4F6F1"/>
          </a:solidFill>
          <a:ln w="15240">
            <a:solidFill>
              <a:srgbClr val="0B8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401"/>
          <a:lstStyle/>
          <a:p>
            <a:pPr algn="ctr"/>
            <a:r>
              <a:rPr sz="1250" b="0">
                <a:solidFill>
                  <a:srgbClr val="0B8A6A"/>
                </a:solidFill>
              </a:rPr>
              <a:t>AI Rule Suggester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974336"/>
            <a:ext cx="2286000" cy="566928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3926"/>
          <a:lstStyle/>
          <a:p>
            <a:pPr algn="ctr"/>
            <a:r>
              <a:rPr sz="1150" b="0">
                <a:solidFill>
                  <a:srgbClr val="0F3460"/>
                </a:solidFill>
              </a:rPr>
              <a:t>Rule Effectiveness
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</a:rPr>
              <a:t>↑  rules updated → better validation on next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1">
                <a:solidFill>
                  <a:srgbClr val="0F3460"/>
                </a:solidFill>
              </a:rPr>
              <a:t>AI is not a bolt-on — it is the feedback mechanism that makes the system self-improving.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3: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>A working, end-to-end POC on Databricks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POC Overview — Five Phases plus Stage 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4572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956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237744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9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08760"/>
            <a:ext cx="603504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5595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508760"/>
            <a:ext cx="237744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1559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92808"/>
            <a:ext cx="4572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309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892808"/>
            <a:ext cx="23774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9309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Batch DQ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892808"/>
            <a:ext cx="60350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9309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Validates daily transaction / product data against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892808"/>
            <a:ext cx="23774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9309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✅ 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40280"/>
            <a:ext cx="45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783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240280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2783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Real-time Streaming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240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2783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Validates live event streams via Kafka / Event Hubs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240280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2783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✅ 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587752"/>
            <a:ext cx="4572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6258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2587752"/>
            <a:ext cx="23774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26258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AI Rule Suggester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2587752"/>
            <a:ext cx="60350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6258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LLM analyses data profile and generates DQ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587752"/>
            <a:ext cx="23774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6258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✅ Complete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35224"/>
            <a:ext cx="45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9733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2935224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29733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Quarantine Analyzer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2935224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297332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Surfaces patterns in bad records, root-cause insights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2935224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29733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✅ Complete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282696"/>
            <a:ext cx="4572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3207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282696"/>
            <a:ext cx="23774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33207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Rule Effectiveness Dashboard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282696"/>
            <a:ext cx="60350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332079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Tracks which rules fire, trends, zero-fire candidates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282696"/>
            <a:ext cx="23774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33207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✅ Complete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630168"/>
            <a:ext cx="457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6682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3630168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36682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Automated Alerting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3630168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37560" y="36682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Flags violation-rate spikes vs. each rule's own baseline; audit log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3630168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72600" y="36682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✅ Built — Slack pending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5074920"/>
            <a:ext cx="63500" cy="10515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13892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All five phases and Stage A alerting are built and running on Databricks; the batch DAG and the streaming pipeline have been run end to end. The POC uses generated retail data (sales transactions + event streams) designed to mirror real-world data patterns at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303520" cy="49377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</a:rPr>
              <a:t>Platform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Databricks — unified compute, notebooks, jobs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Delta Lake — ACID-compliant storage for all DQ data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Apache Kafka / Azure Event Hubs — real-time streaming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Unity Catalog — governed data asset management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PySpark — distributed data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303520" cy="49377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</a:rPr>
              <a:t>AI &amp; Quality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Databricks Labs DQX — core DQ rule engine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Anthropic Claude — primary LLM for rule generation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Azure OpenAI — enterprise LLM alternative (pluggable)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OpenRouter — multi-model fallback option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3333"/>
                </a:solidFill>
              </a:rPr>
              <a:t>•  Databricks Asset Bundles — infra-as-code for all jobs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217920"/>
            <a:ext cx="635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Key design: LLM backend is pluggable — switching providers requires only an env var change, not code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4: Phase-by-Phase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1 — Batch Data Quality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Validates daily sales / inventory datasets against a governed rule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6217920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800" cy="3017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6053328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# notebooks/batch_dqx_validation.py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dq_df = dqx.apply_checks_by_metadata(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sales_df, checks, custom_check_functions=custom_check_functions,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# Split clean vs. quarantine on the _errors array DQX attaches to each row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good_df       = dq_df.filter((col('_errors').isNull()) | (size(col('_errors')) == 0))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quarantine_df = dq_df.filter((col('_errors').isNotNull()) &amp; (size(col('_errors')) &gt; 0))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# Rule effectiveness captured after every run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_run_id  = str(uuid.uuid4())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_metrics = compute_rule_metrics(quarantine_df, total_count, _run_id, 'batch', BATCH_RULE_CONFIG_NAME)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_written = write_rule_metrics(_metrics, spark)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Rules in configs/rules_batch.yml: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2286000"/>
            <a:ext cx="4754880" cy="3383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2286000"/>
            <a:ext cx="50800" cy="3383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2377440"/>
            <a:ext cx="4590288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- name: unit_price_positive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column: unit_price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type: min_value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min: 0.01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criticality: error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- name: division_allowlist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column: division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type: is_in_list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allowed_values: ['011','012','013']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criticality: error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- name: coupon_division_integrity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column: division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type: custom_sql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sql_expression: &gt;-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NOT (coupon_applied=true AND division='540')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criticality: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Business output: Every analytics pipeline consumes only validated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2 — Real-time Streaming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Validates every Kafka / Azure Event Hubs event before it reaches any consumer.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800" cy="3657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1108252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# notebooks/kafka_stream_dqx_validation.py — foreachBatch handler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def process(batch_df, batch_id):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dq_df = dqx.apply_checks_by_metadata(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batch_df, checks, custom_check_functions=custom_check_functions,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# Normalise NULL arrays to keep Delta schema consistent across batches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dq_df = dq_df.withColumn('_errors',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expr('CASE WHEN _errors IS NULL THEN array() ELSE _errors END'))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clean      = dq_df.filter(size(col('_errors')) == 0).drop('_errors')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quarantine = dq_df.filter(size(col('_errors')) &gt; 0)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clean.write.mode('append').option('mergeSchema','true') \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       .saveAsTable(TABLE_STREAM_CLEAN)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quarantine.write.mode('append').option('mergeSchema','true') \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       .saveAsTable(TABLE_STREAM_QUARANTINE)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Key design:  Rules loaded once at stream startup — no per-batch registry reads.  ADLS-backed checkpoints ensure fault tolerance and exactly-once semantics.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3 — AI Rule Suggester  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Profiles a data table and uses an LLM to generate new DQ rules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108960" cy="1234440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/>
            <a:r>
              <a:rPr sz="1200" b="0">
                <a:solidFill>
                  <a:srgbClr val="0F3460"/>
                </a:solidFill>
              </a:rPr>
              <a:t>Profile
Analyse column stats
(min, max, nulls,
cardinality)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9842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2494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920240"/>
            <a:ext cx="3108960" cy="1234440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/>
            <a:r>
              <a:rPr sz="1200" b="0">
                <a:solidFill>
                  <a:srgbClr val="0F3460"/>
                </a:solidFill>
              </a:rPr>
              <a:t>Build Prompt
Convert stats into
structured LLM prompt
+ domain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9842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2494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920240"/>
            <a:ext cx="3108960" cy="1234440"/>
          </a:xfrm>
          <a:prstGeom prst="rect">
            <a:avLst/>
          </a:prstGeom>
          <a:solidFill>
            <a:srgbClr val="E4F6F1"/>
          </a:solidFill>
          <a:ln w="15240">
            <a:solidFill>
              <a:srgbClr val="0B8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/>
            <a:r>
              <a:rPr sz="1200" b="0">
                <a:solidFill>
                  <a:srgbClr val="0B8A6A"/>
                </a:solidFill>
              </a:rPr>
              <a:t>LLM Generates
Claude / Azure OpenAI
returns candidate rules
in structured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19842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8A6A"/>
                </a:solidFill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321868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657600"/>
            <a:ext cx="3108960" cy="1234440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/>
            <a:r>
              <a:rPr sz="1200" b="0">
                <a:solidFill>
                  <a:srgbClr val="0F3460"/>
                </a:solidFill>
              </a:rPr>
              <a:t>Validate &amp; Stage
Parse JSON, validate
structure, write to
dq_rules_staging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721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398678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657600"/>
            <a:ext cx="3108960" cy="123444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/>
            <a:r>
              <a:rPr sz="1200" b="0">
                <a:solidFill>
                  <a:srgbClr val="E65C00"/>
                </a:solidFill>
              </a:rPr>
              <a:t>Human Review
Engineer approves
or rejects each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721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98678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108960" cy="123444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/>
            <a:r>
              <a:rPr sz="1200" b="0">
                <a:solidFill>
                  <a:srgbClr val="1E7E34"/>
                </a:solidFill>
              </a:rPr>
              <a:t>dq_rules_registry
Promoted &amp; active
in all future batch
+ streaming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11430000" cy="42062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023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Two complementary sources:   Statistical rules (no LLM, pure maths)   +   LLM rules (domain reasoning)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3 — How the LLM Backend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Three providers, one interface — switch via environment variable: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1247120" cy="3337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0800" cy="33375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65959"/>
            <a:ext cx="11082528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# ai_suggester/llm_backend.py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def get_backend(name: str | None = None) -&gt; LLMBackend: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resolved = (name or os.environ.get('LLM_BACKEND', 'claude')).lower()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if resolved == 'claude':        return ClaudeBackend()        # Anthropic API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if resolved == 'azure_openai':  return AzureOpenAIBackend()   # Azure OpenAI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if resolved == 'openrouter':    return OpenRouterBackend()     # OpenRouter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# ClaudeBackend.generate() — actual API call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message = client.messages.create(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model=self._model,           # e.g. 'claude-sonnet-4-6'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max_tokens=4096,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system=_SYSTEM_PROMPT,       # strict JSON-only output instructions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messages=[{'role': 'user', 'content': prompt}],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</a:rPr>
              <a:t>The LLM is given a strict system prompt specifying: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 Output format: JSON array only — no prose, no markdown fences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 Allowed functions: is_not_null, min_value, max_value, sql_expression, matches_regex, is_in_list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 Required fields per rule: name, column, function, constraint, criticality, message, reasoning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3 — Statistical Rule Generator (No LLM)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Derives rules purely from column statistics — fast, deterministic, no API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4023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800" cy="4023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11082528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# ai_suggester/rule_generator.py — suggest_statistical_rules()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for col_name, stats in profile.items():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null_pct = stats.get('null_pct', 1.0)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# Rule: is_not_null — if &lt; 1% nulls observed historically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if null_pct &lt; STAT_NULL_THRESHOLD:   # STAT_NULL_THRESHOLD = 0.01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rules.append({'name': f'{col_name}_not_null',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               'function': 'is_not_null', 'confidence': 1.0 - null_pct, ...})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# Rule: min_value — if all observed values are strictly positive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# (skipped for code-like integers such as division / *_id)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if is_numeric and not _is_code_like(col_name, dtype) and col_min &gt; 0: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rules.append({'name': f'{col_name}_min_value',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               'function': 'min_value', 'constraint': {'min': 0}, ...})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# Rule: is_in_list — for low-cardinality categoricals (≤ 50 distinct values)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if distinct_count &lt;= STAT_DISTINCT_THRESHOLD and not is_numeric: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rules.append({'name': f'{col_name}_valid_values',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                   'function': 'sql_expression', ...})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</a:rPr>
              <a:t>Statistical rules provide a fast baseline before the LLM adds domain-reasoning rules on top.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3 — Human Review &amp; Promotion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No AI rule becomes active without engineer sign-off.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800" cy="4206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11082528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# ai_suggester/rule_writer.py — staging table schema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CREATE TABLE IF NOT EXISTS dq_rules_staging (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rule_id         STRING,    -- UUID per suggestion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name            STRING,    -- e.g. 'unit_price_positive'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function        STRING,    -- 'min_value', 'is_not_null', etc.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criticality     STRING,    -- 'error' | 'warning'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source          STRING,    -- 'statistical' | 'llm'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llm_backend     STRING,    -- 'claude' | 'azure_openai' | null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confidence      DOUBLE,    -- 0.0–1.0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reasoning       STRING,    -- LLM's explanation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status          STRING,    -- 'pending' → 'approved' | 'rejected'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suggested_at    TIMESTAMP,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reviewed_at     TIMESTAMP,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    reviewed_by     STRING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) USING DELTA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# Engineer calls: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promote_rule(rule_id, reviewed_by, spark)  # DQX-native names -&gt; dq_rules_registry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reject_rule(rule_id, reviewed_by, spark)   # status='rejected', kept for fine-tuning</a:t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CDD6F4"/>
                </a:solidFill>
                <a:latin typeface="Courier New"/>
              </a:rPr>
              <a:t># On write: duplicates and names of live rules are skipped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Audit trail: rule_id · suggested_at · reviewed_by · llm_backend   |   Duplicates skipped on write · DQX names applied on promotion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4 — Quarantine Analyzer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Turns a table of bad records into actionable data quality incidents.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943600" cy="3840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800" cy="3840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5779008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dq_sales_quarantine / stream_events_quarantine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            │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            ▼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Quarantine Analyzer Notebook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┌──────────────────────────────────────────────────────┐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│  • Which rules are triggering most violations?        │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│  • Are violations concentrated in specific stores?    │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│  • Are violations correlated with time? (weekends?)   │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│  • Which columns appear in the most violation records?│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└──────────────────────────────────────────────────────┘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            │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            ▼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Example insight: '60% of price violations originate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from division 540 — flagged in coupon_division_integrity'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Powered by the _errors column: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331720"/>
            <a:ext cx="512064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2331720"/>
            <a:ext cx="5080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423160"/>
            <a:ext cx="495604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_errors: ARRAY&lt;STRUCT&lt;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name     STRING,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message  STRING,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function STRING,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    columns  ARRAY&lt;STRING&gt;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&gt;&gt;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51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No separate error log table needed — the error context travels with each bad record.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897880"/>
            <a:ext cx="11247120" cy="7315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897880"/>
            <a:ext cx="63500" cy="731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9618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Without this, quarantine tables grow indefinitely with no prioritisation. The analyzer turns raw violations into actionable data quality incidents.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Phase 5 — Rule Effectiveness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Tracks per-rule violation counts after every batch and stream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6858000" cy="4434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800" cy="4434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6693408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# ai_suggester/rule_metrics.py — called after every run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violation_rows = (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quarantine_df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.select(F.explode('_errors').alias('_err'))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.groupBy(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    F.col('_err.name').alias('rule_name'),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    F.col('_err.function').alias('function'),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.agg(F.count('*').alias('violations'))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.collect()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# violation_pct = violations / total_records * 100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# Appended to dq_rule_metrics Delta table — full run history preserved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-- Effectiveness Summary SQL (notebooks/rule_effectiveness_report.py)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SELECT rule_name, COUNT(DISTINCT run_id) AS run_count,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   SUM(violations) AS total_violations,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   ROUND(AVG(violation_pct), 2) AS avg_violation_pct,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       MAX_BY(violations, recorded_at) AS last_run_violations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FROM dq_rule_metrics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GROUP BY rule_name, function, run_config_name</a:t>
            </a:r>
          </a:p>
          <a:p>
            <a:pPr algn="l"/>
            <a:r>
              <a:rPr sz="1000">
                <a:solidFill>
                  <a:srgbClr val="CDD6F4"/>
                </a:solidFill>
                <a:latin typeface="Courier New"/>
              </a:rPr>
              <a:t>ORDER BY total_violations DESC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Four report sections: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331720"/>
            <a:ext cx="192024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799" y="2382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19" y="2331720"/>
            <a:ext cx="22860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39" y="23825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715768"/>
            <a:ext cx="19202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799" y="27538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Effectiveness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19" y="2715768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39" y="27538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Which rules catch most violations overall?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3063240"/>
            <a:ext cx="1920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799" y="31013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Violation Trend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3063240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39" y="31013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Is violation rate increasing or decreasing?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3410712"/>
            <a:ext cx="19202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799" y="34488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Top Offenders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3410712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39" y="34488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Top 10 rules by cumulative catch 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3758184"/>
            <a:ext cx="1920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37962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Zero-fire Candidates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19" y="3758184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39" y="37962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Which rules haven't fired in last N runs?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5: AI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>Where intelligence is infused — and what business problem each solves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AI Infusion Map —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22860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59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508760"/>
            <a:ext cx="22860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559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508760"/>
            <a:ext cx="34747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595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508760"/>
            <a:ext cx="338328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559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Use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92808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309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Statistical Rule Generator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892808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9309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rule_generator.py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892808"/>
            <a:ext cx="34747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9309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Derives rules from null %, min/max, cardinality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892808"/>
            <a:ext cx="33832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9309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Fast baseline rules — no LLM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0280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2783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 Rule Generator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240280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2783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llm_rule_suggester.py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240280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22783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 reasons over profile, adds domain 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240280"/>
            <a:ext cx="3383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2783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Catch semantic violations stats can't see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87752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6258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Pluggable LLM 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587752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6258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llm_backend.py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587752"/>
            <a:ext cx="34747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26258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Claude / Azure OpenAI / OpenRouter — env var switch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587752"/>
            <a:ext cx="33832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6258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Enterprise flexibility, no vendor lock-in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35224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9733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Rule Validation Layer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935224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29733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llm_rule_suggester.py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935224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29733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Validates LLM JSON before staging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935224"/>
            <a:ext cx="3383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29733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Prevents malformed rules entering system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282696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3207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Quarantine Analyser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282696"/>
            <a:ext cx="2286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3207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quarantine_analyzer.py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282696"/>
            <a:ext cx="34747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80" y="33207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Finds violation clusters in bad records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282696"/>
            <a:ext cx="33832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33207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Prioritise which data issues to fix first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630168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6682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Zero-fire Detection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1760" y="3630168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97480" y="36682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rule_effectiveness_report.py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3630168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83480" y="36682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Flags rules with no violations in last N runs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3630168"/>
            <a:ext cx="3383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8200" y="36682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Identifies stale rules for AI refresh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The Human-in-the-Loop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3460"/>
                </a:solidFill>
              </a:rPr>
              <a:t>AI generates.  Humans govern.  System learns.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2560320" cy="658368"/>
          </a:xfrm>
          <a:prstGeom prst="rect">
            <a:avLst/>
          </a:prstGeom>
          <a:solidFill>
            <a:srgbClr val="E4F6F1"/>
          </a:solidFill>
          <a:ln w="15240">
            <a:solidFill>
              <a:srgbClr val="0B8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10121"/>
          <a:lstStyle/>
          <a:p>
            <a:pPr algn="ctr"/>
            <a:r>
              <a:rPr sz="1250" b="0">
                <a:solidFill>
                  <a:srgbClr val="0B8A6A"/>
                </a:solidFill>
              </a:rPr>
              <a:t>AI Suggests
(statistical + LLM rules)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21031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965960"/>
            <a:ext cx="2560320" cy="658368"/>
          </a:xfrm>
          <a:prstGeom prst="rect">
            <a:avLst/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10121"/>
          <a:lstStyle/>
          <a:p>
            <a:pPr algn="ctr"/>
            <a:r>
              <a:rPr sz="1250" b="0">
                <a:solidFill>
                  <a:srgbClr val="E65C00"/>
                </a:solidFill>
              </a:rPr>
              <a:t>dq_rules_staging
status =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1031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965960"/>
            <a:ext cx="2560320" cy="658368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10121"/>
          <a:lstStyle/>
          <a:p>
            <a:pPr algn="ctr"/>
            <a:r>
              <a:rPr sz="1250" b="1">
                <a:solidFill>
                  <a:srgbClr val="0F3460"/>
                </a:solidFill>
              </a:rPr>
              <a:t>Engineer Reviews
approve  /  reject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7E34"/>
                </a:solidFill>
              </a:rPr>
              <a:t>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94560"/>
                </a:solidFill>
              </a:rPr>
              <a:t>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218688"/>
            <a:ext cx="2194560" cy="658368"/>
          </a:xfrm>
          <a:prstGeom prst="rect">
            <a:avLst/>
          </a:prstGeom>
          <a:solidFill>
            <a:srgbClr val="E6F4EA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10121"/>
          <a:lstStyle/>
          <a:p>
            <a:pPr algn="ctr"/>
            <a:r>
              <a:rPr sz="1250" b="1">
                <a:solidFill>
                  <a:srgbClr val="1E7E34"/>
                </a:solidFill>
              </a:rPr>
              <a:t>APPROVED
dq_rules_registry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218688"/>
            <a:ext cx="2194560" cy="658368"/>
          </a:xfrm>
          <a:prstGeom prst="rect">
            <a:avLst/>
          </a:prstGeom>
          <a:solidFill>
            <a:srgbClr val="FFEDED"/>
          </a:solidFill>
          <a:ln w="1524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10121"/>
          <a:lstStyle/>
          <a:p>
            <a:pPr algn="ctr"/>
            <a:r>
              <a:rPr sz="1250" b="0">
                <a:solidFill>
                  <a:srgbClr val="E94560"/>
                </a:solidFill>
              </a:rPr>
              <a:t>REJECTED
Preserved for
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9319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4407408"/>
            <a:ext cx="4114800" cy="530352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113"/>
          <a:lstStyle/>
          <a:p>
            <a:pPr algn="ctr"/>
            <a:r>
              <a:rPr sz="1250" b="1">
                <a:solidFill>
                  <a:srgbClr val="0F3460"/>
                </a:solidFill>
              </a:rPr>
              <a:t>Active in all future batch + streaming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Why this matters architecturally: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50">
                <a:solidFill>
                  <a:srgbClr val="333333"/>
                </a:solidFill>
              </a:rPr>
              <a:t>•  Full audit trail: rule_id · suggested_at · reviewed_by · llm_backend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333333"/>
                </a:solidFill>
              </a:rPr>
              <a:t>•  Rejected rules preserved — future fine-tuning data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333333"/>
                </a:solidFill>
              </a:rPr>
              <a:t>•  Identical pattern to feature-flag promotion workflow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333333"/>
                </a:solidFill>
              </a:rPr>
              <a:t>•  Zero risk of hallucinated rule entering production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6: Architecture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Full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508760"/>
            <a:ext cx="11521440" cy="5120640"/>
          </a:xfrm>
          <a:prstGeom prst="rect">
            <a:avLst/>
          </a:prstGeom>
          <a:solidFill>
            <a:srgbClr val="F0F4FA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3619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3460"/>
                </a:solidFill>
              </a:rPr>
              <a:t>DATABRICKS UNITY CATALOG  —  dqx_poc_dev / retail_dqx_poc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01952"/>
            <a:ext cx="2011680" cy="54864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4307"/>
          <a:lstStyle/>
          <a:p>
            <a:pPr algn="ctr"/>
            <a:r>
              <a:rPr sz="1050" b="0">
                <a:solidFill>
                  <a:srgbClr val="E65C00"/>
                </a:solidFill>
              </a:rPr>
              <a:t>Azure Event Hubs
(Kafka protocol)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901952"/>
            <a:ext cx="2011680" cy="54864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4307"/>
          <a:lstStyle/>
          <a:p>
            <a:pPr algn="ctr"/>
            <a:r>
              <a:rPr sz="1050" b="0">
                <a:solidFill>
                  <a:srgbClr val="E65C00"/>
                </a:solidFill>
              </a:rPr>
              <a:t>LLM APIs
Claude / Azure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48716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0736" y="248716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44368"/>
            <a:ext cx="1783080" cy="822960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16230"/>
          <a:lstStyle/>
          <a:p>
            <a:pPr algn="ctr"/>
            <a:r>
              <a:rPr sz="1000" b="0">
                <a:solidFill>
                  <a:srgbClr val="0F3460"/>
                </a:solidFill>
              </a:rPr>
              <a:t>Config Layer
constants.py
rules_*.yml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1272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944368"/>
            <a:ext cx="2103120" cy="822960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16230"/>
          <a:lstStyle/>
          <a:p>
            <a:pPr algn="ctr"/>
            <a:r>
              <a:rPr sz="1000" b="0">
                <a:solidFill>
                  <a:srgbClr val="0F3460"/>
                </a:solidFill>
              </a:rPr>
              <a:t>Batch Pipeline
batch_dqx_
validation.py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944368"/>
            <a:ext cx="2286000" cy="822960"/>
          </a:xfrm>
          <a:prstGeom prst="rect">
            <a:avLst/>
          </a:prstGeom>
          <a:solidFill>
            <a:srgbClr val="E8F0FE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16230"/>
          <a:lstStyle/>
          <a:p>
            <a:pPr algn="ctr"/>
            <a:r>
              <a:rPr sz="1000" b="0">
                <a:solidFill>
                  <a:srgbClr val="0F3460"/>
                </a:solidFill>
              </a:rPr>
              <a:t>Streaming Pipeline
kafka_stream_dqx_
validation.py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944368"/>
            <a:ext cx="1920240" cy="822960"/>
          </a:xfrm>
          <a:prstGeom prst="rect">
            <a:avLst/>
          </a:prstGeom>
          <a:solidFill>
            <a:srgbClr val="E4F6F1"/>
          </a:solidFill>
          <a:ln w="15240">
            <a:solidFill>
              <a:srgbClr val="0B8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16230"/>
          <a:lstStyle/>
          <a:p>
            <a:pPr algn="ctr"/>
            <a:r>
              <a:rPr sz="1000" b="0">
                <a:solidFill>
                  <a:srgbClr val="0B8A6A"/>
                </a:solidFill>
              </a:rPr>
              <a:t>AI Layer
profiler
llm_backend
rule_writer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1272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822191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3822191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4279392"/>
            <a:ext cx="4754880" cy="530352"/>
          </a:xfrm>
          <a:prstGeom prst="rect">
            <a:avLst/>
          </a:prstGeom>
          <a:solidFill>
            <a:srgbClr val="E0E8FF"/>
          </a:solidFill>
          <a:ln w="1524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0876"/>
          <a:lstStyle/>
          <a:p>
            <a:pPr algn="ctr"/>
            <a:r>
              <a:rPr sz="1200" b="1">
                <a:solidFill>
                  <a:srgbClr val="0F3460"/>
                </a:solidFill>
              </a:rPr>
              <a:t>DQX Rule Engine  —  apply_checks_by_metadata()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86460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486460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5321808"/>
            <a:ext cx="2103120" cy="64008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4790"/>
          <a:lstStyle/>
          <a:p>
            <a:pPr algn="ctr"/>
            <a:r>
              <a:rPr sz="1000" b="0">
                <a:solidFill>
                  <a:srgbClr val="1E7E34"/>
                </a:solidFill>
              </a:rPr>
              <a:t>sales_clean
stream_events_clean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5321808"/>
            <a:ext cx="2194560" cy="640080"/>
          </a:xfrm>
          <a:prstGeom prst="rect">
            <a:avLst/>
          </a:prstGeom>
          <a:solidFill>
            <a:srgbClr val="FFEDED"/>
          </a:solidFill>
          <a:ln w="1524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4790"/>
          <a:lstStyle/>
          <a:p>
            <a:pPr algn="ctr"/>
            <a:r>
              <a:rPr sz="1000" b="0">
                <a:solidFill>
                  <a:srgbClr val="E94560"/>
                </a:solidFill>
              </a:rPr>
              <a:t>sales_quarantine
stream_events_quarantine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4681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5321808"/>
            <a:ext cx="2103120" cy="64008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4790"/>
          <a:lstStyle/>
          <a:p>
            <a:pPr algn="ctr"/>
            <a:r>
              <a:rPr sz="1000" b="0">
                <a:solidFill>
                  <a:srgbClr val="0F3460"/>
                </a:solidFill>
              </a:rPr>
              <a:t>dq_rule_metrics
dq_rules_staging
dq_rules_registry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Delta Table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124712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0800" cy="2331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82528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# config/constants.py — single source of truth for all table names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CATALOG  = 'dqx_poc_dev'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DATABASE = 'retail_dqx_poc'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TABLE_SALES_CLEAN       = f'{CATALOG}.{DATABASE}.sales_clean'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TABLE_SALES_QUARANTINE  = f'{CATALOG}.{DATABASE}.sales_quarantine'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TABLE_STREAM_CLEAN      = f'{CATALOG}.{DATABASE}.stream_events_clean'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TABLE_STREAM_QUARANTINE = f'{CATALOG}.{DATABASE}.stream_events_quarantine'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TABLE_RULES             = f'{CATALOG}.{DATABASE}.dq_rules_registry'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TABLE_RULES_STAGING     = f'{CATALOG}.{DATABASE}.dq_rules_staging'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TABLE_RULE_METRICS      = f'{CATALOG}.{DATABASE}.dq_rule_metrics'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283464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82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931920"/>
            <a:ext cx="41148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9827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931920"/>
            <a:ext cx="429768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98272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Written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15968"/>
            <a:ext cx="28346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3540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sales_clean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315968"/>
            <a:ext cx="41148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435406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all source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4315968"/>
            <a:ext cx="42976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43540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Batch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015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sales_quarantine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663440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7015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source + _errors ARRAY&lt;STRUCT&gt;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663440"/>
            <a:ext cx="4297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7015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Batch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10912"/>
            <a:ext cx="28346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490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stream_events_clean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5010912"/>
            <a:ext cx="41148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50490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all source columns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5010912"/>
            <a:ext cx="42976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50490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Streaming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58384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964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stream_events_quarantine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358384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539648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source + _errors ARRAY&lt;STRUCT&gt;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5358384"/>
            <a:ext cx="4297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539648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Streaming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705856"/>
            <a:ext cx="28346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7439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dq_rules_registry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5705856"/>
            <a:ext cx="41148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574395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name, check STRUCT, criticality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5705856"/>
            <a:ext cx="42976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574395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rule_writer.promote_rule()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05332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0914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dq_rules_staging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6053328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609142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status, llm_backend, confidence, reasoning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6053328"/>
            <a:ext cx="4297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60914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AI Rule Suggester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00800"/>
            <a:ext cx="28346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4389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dq_rule_metrics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6400800"/>
            <a:ext cx="41148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64389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run_id, rule_name, violations, violation_pct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6400800"/>
            <a:ext cx="42976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643890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After every run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Databricks Jobs — Operational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32004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95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Job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508760"/>
            <a:ext cx="27432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5595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53035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9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92808"/>
            <a:ext cx="3200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309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[RTM] Seed Rules 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892808"/>
            <a:ext cx="27432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9309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Once per environment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92808"/>
            <a:ext cx="53035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09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seed_rules — loads configs/rules_*.yml into dq_rules_registry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028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783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[RTM] Batch DQX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4028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783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On-demand / scheduled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40280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783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6-task DAG: stage → validate → suggest ∥ analyze → report →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87752"/>
            <a:ext cx="3200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6258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[RTM] Kafka Streaming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587752"/>
            <a:ext cx="27432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6258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Continuous (runs until cancelled)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587752"/>
            <a:ext cx="53035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258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stream_and_validate + produce_events, started together; readiness handshake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35224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733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[RTM] DQ Alert Check (Streaming)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935224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29733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Every 15 minutes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935224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9733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check_alerts — spike detection on streaming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983480"/>
            <a:ext cx="63500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0749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Six manually triggered jobs were chained into four orchestrated ones. All are defined in databricks.yml as a Databricks Asset Bundle, including the cluster libraries (pipeline_libraries), so a new environment needs no manual setup: databricks bundle deploy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7: Production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>From POC to enterprise scale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POC vs. Production — Honest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6459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595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508760"/>
            <a:ext cx="292608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5595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POC (Current State)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508760"/>
            <a:ext cx="68580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5956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Production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92808"/>
            <a:ext cx="16459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309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892808"/>
            <a:ext cx="29260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9309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Generated synthetic retail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892808"/>
            <a:ext cx="6858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93090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Real transaction / event feeds from source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783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240280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2783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Thousands of 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240280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2783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Billions of records — Spark scales horizontally, no code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87752"/>
            <a:ext cx="16459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258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2587752"/>
            <a:ext cx="29260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26258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 seeded + AI-suggested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587752"/>
            <a:ext cx="6858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262585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Hundreds of rules across dozens of datasets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35224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9733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Streaming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935224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297332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Single Kafka topic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935224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297332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Multiple topics, partitioned, multi-tenant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82696"/>
            <a:ext cx="16459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3207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 Cost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3282696"/>
            <a:ext cx="29260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33207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Low (POC usage)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3282696"/>
            <a:ext cx="6858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332079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Prompt caching implemented; cost monitoring needed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630168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6682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Security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3630168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36682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Secret scope backed by Azure Key Vault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30168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366826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Managed identities, rotation policies, per-environment vaults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977640"/>
            <a:ext cx="16459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0157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Governance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3977640"/>
            <a:ext cx="29260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40157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Unity Catalog in place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977640"/>
            <a:ext cx="6858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80" y="40157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Column-level access controls + data lineage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32511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3632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Monitoring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4325112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436321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Rule metrics Delta table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4325112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83480" y="436321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Connect to Datadog / Grafana / Azure Monitor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806440"/>
            <a:ext cx="11430000" cy="777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580644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587044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Every technology choice is production-grade. Databricks, Delta Lake, Kafka, and Unity Catalog are what we would use in production. The POC proves the pattern — plugging in real data is a configuration exercise, not a re-architecture.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8: What We Proved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Key POC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1.  AI can write meaningful DQ rules from data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The LLM produced structurally valid, business-relevant rules from a column profile — no domain hints given. A built-in translation maps them to DQX-native names on promotion, so approved rules run without manual editing.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500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2.  The human-in-the-loop governance model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Staging → review → registry promotion gives engineers full control. Approve/reject audit trail preserved for future model fine-tuning.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9125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3.  Batch and streaming share a single rule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930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 rule approved in dq_rules_registry applies identically to daily batch runs and Kafka micro-batches — one source of truth, no duplication.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3250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4.  Rule effectiveness tracking reveals rule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342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Zero-fire detection correctly surfaces rules that have stopped being relevant — impossible to get from a static rules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737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5.  Pluggable LLM backend delivers enterprise flexibility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755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Switching from Claude to Azure OpenAI required only setting LLM_BACKEND=azure_openai — no code modification.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Test Coverage and Code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</a:rPr>
              <a:t>105 unit tests across 9 files — 95 run without Spark; the 10 profiler tests need a local Spark session: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384048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5319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74519"/>
            <a:ext cx="9144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92531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874519"/>
            <a:ext cx="649224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925319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Is 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58567"/>
            <a:ext cx="3840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96667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tests/test_profiler.py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258567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9666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258567"/>
            <a:ext cx="64922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296667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Column statistics, null detection, distinct values (local Spark)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06039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44139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tests/test_rule_generator.py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06039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644139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606039"/>
            <a:ext cx="6492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644139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Statistical rules, code-column skipping, ceiling rounding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53511"/>
            <a:ext cx="3840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91611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tests/test_rule_writer.py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953511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991611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953511"/>
            <a:ext cx="64922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299161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DQX-name translation on promotion, duplicate filtering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00983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39083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tests/test_rule_seed.py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300983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3339083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3300983"/>
            <a:ext cx="6492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333908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YAML → DQX-native check conversion for every rule type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48455"/>
            <a:ext cx="3840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686555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tests/test_quarantine_analyzer.py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648455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686555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3648455"/>
            <a:ext cx="64922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0" y="3686555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Prompt construction, JSON parsing, rule 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995927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034027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tests/test_rule_metrics.py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995927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403402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3995927"/>
            <a:ext cx="6492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4034027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Metrics building, violation % calculation, write path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343399"/>
            <a:ext cx="3840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381499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tests/test_alerting.py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4343399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4381499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4343399"/>
            <a:ext cx="64922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4381499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Spike detection, Slack payload and delivery, orchestration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690871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728971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tests/test_config.py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4690871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4728971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2080" y="4690871"/>
            <a:ext cx="6492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57800" y="472897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Settings loading and required-field validation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038343"/>
            <a:ext cx="38404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076443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tests/test_event_generator.py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5038343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43400" y="5076443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12080" y="5038343"/>
            <a:ext cx="649224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57800" y="507644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Event schema and bad-data injection rates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577840"/>
            <a:ext cx="512064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5577840"/>
            <a:ext cx="5080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5669280"/>
            <a:ext cx="495604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DD6F4"/>
                </a:solidFill>
                <a:latin typeface="Courier New"/>
              </a:rPr>
              <a:t>$ pytest tests/</a:t>
            </a:r>
          </a:p>
          <a:p>
            <a:pPr algn="l"/>
            <a:r>
              <a:rPr sz="1200">
                <a:solidFill>
                  <a:srgbClr val="CDD6F4"/>
                </a:solidFill>
                <a:latin typeface="Courier New"/>
              </a:rPr>
              <a:t>...</a:t>
            </a:r>
          </a:p>
          <a:p>
            <a:pPr algn="l"/>
            <a:r>
              <a:rPr sz="1200">
                <a:solidFill>
                  <a:srgbClr val="CDD6F4"/>
                </a:solidFill>
                <a:latin typeface="Courier New"/>
              </a:rPr>
              <a:t>95 passed (10 Spark-only tests deselected)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52160" y="553212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Design principle: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52160" y="5870448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Pure-Python business logic is separated from Spark code, so most tests run offline without a cluster. Spark calls are mocked at the boundary.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94560"/>
                </a:solidFill>
              </a:rPr>
              <a:t>Part 9: AI Infusion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8DADC"/>
                </a:solidFill>
              </a:rPr>
              <a:t>Where this platform goes next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Known AI Infusion Opportunities —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9144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595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508760"/>
            <a:ext cx="25603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5595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508760"/>
            <a:ext cx="45720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55956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Infusion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508760"/>
            <a:ext cx="338328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559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92808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309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 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1892808"/>
            <a:ext cx="25603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19309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Automated Alerting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92808"/>
            <a:ext cx="4572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93090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Built: spike detection + log + Slack. Next: AI severity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892808"/>
            <a:ext cx="33832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9309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On-call team notified only when it matters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028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2783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2240280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22783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Data Drift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240280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22783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ML detects statistical distribution shift run-over-run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240280"/>
            <a:ext cx="3383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2783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Catch silent degradation before rules 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87752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6258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2587752"/>
            <a:ext cx="25603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26258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DQ Scorecard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587752"/>
            <a:ext cx="4572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26258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Aggregate quality scores per domain / table over 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587752"/>
            <a:ext cx="33832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6258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Executive visibility into data health by area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35224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9733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2935224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5880" y="29733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Rule Governance Workflow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935224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29733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AI suggests rule retirement based on effectiveness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935224"/>
            <a:ext cx="3383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29733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Fully automated rule lifecycle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282696"/>
            <a:ext cx="9144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32079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3282696"/>
            <a:ext cx="256032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5880" y="33207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Multi-table / Cross-domain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3282696"/>
            <a:ext cx="457200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6200" y="332079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Referential integrity + cross-table consistency checks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282696"/>
            <a:ext cx="3383280" cy="347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33207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Catches issues single-table rules cannot see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74920"/>
            <a:ext cx="11430000" cy="777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" y="507492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138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Stage A is delivered: spike detection and the audit log are verified on Databricks; Slack delivery is ready once the webhook secret is configured. Next: choose among B–E, and add AI severity and plain-English explanations to 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Stage A — Automated Alerting (Delivered)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658368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0800" cy="3657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641908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dq_rule_metrics (populated after every batch / stream run)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         │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         ▼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Alert check job (dq_alert_check.py)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┌──────────────────────────────────────────────────────┐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│  baseline = avg violation_pct of the last N runs     │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│  spike if last run &gt; max(2.5 × baseline, 5%)         │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│  needs at least 3 prior runs for the rule            │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│  never re-alert the same rule + run                  │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└──────────────────────────────────────────────────────┘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         ├──► Slack webhook notification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         ├──► dq_alert_log table (full audit trail)</a:t>
            </a:r>
          </a:p>
          <a:p>
            <a:pPr algn="l"/>
            <a:r>
              <a:rPr sz="1150">
                <a:solidFill>
                  <a:srgbClr val="CDD6F4"/>
                </a:solidFill>
                <a:latin typeface="Courier New"/>
              </a:rPr>
              <a:t>           └──► native Databricks SQL Alert (alternative 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508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Next: AI infusion in the alert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Not just: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286000"/>
            <a:ext cx="4572000" cy="502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2286000"/>
            <a:ext cx="5080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2377440"/>
            <a:ext cx="44074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"rule X violated 12%"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But: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3246120"/>
            <a:ext cx="457200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3246120"/>
            <a:ext cx="50800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3337560"/>
            <a:ext cx="440740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"Price validation for division '540'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failed at 12% — this pattern has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not been seen before and may</a:t>
            </a:r>
          </a:p>
          <a:p>
            <a:pPr algn="l"/>
            <a:r>
              <a:rPr sz="1100">
                <a:solidFill>
                  <a:srgbClr val="CDD6F4"/>
                </a:solidFill>
                <a:latin typeface="Courier New"/>
              </a:rPr>
              <a:t>indicate a feed config issue."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34924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4223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Spike detection and logging are verified end to end on Databricks; Slack delivery is ready once the webhook secret is configured. The LLM backend is already in place for the severity and explanation step.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The Vision, Realised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5212080" cy="4572000"/>
          </a:xfrm>
          <a:prstGeom prst="rect">
            <a:avLst/>
          </a:prstGeom>
          <a:solidFill>
            <a:srgbClr val="E6F4EA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184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7E34"/>
                </a:solidFill>
              </a:rPr>
              <a:t>TODAY —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4846320" cy="12700"/>
          </a:xfrm>
          <a:prstGeom prst="rect">
            <a:avLst/>
          </a:prstGeom>
          <a:solidFill>
            <a:srgbClr val="1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500">
                <a:solidFill>
                  <a:srgbClr val="0D522A"/>
                </a:solidFill>
              </a:rPr>
              <a:t>  ✅  AI generates DQ rules from data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D522A"/>
                </a:solidFill>
              </a:rPr>
              <a:t>  ✅  Batch + stream data validated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D522A"/>
                </a:solidFill>
              </a:rPr>
              <a:t>  ✅  Quarantine records analysed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D522A"/>
                </a:solidFill>
              </a:rPr>
              <a:t>  ✅  Rule effectiveness tracked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D522A"/>
                </a:solidFill>
              </a:rPr>
              <a:t>  ✅  Human governance layer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D522A"/>
                </a:solidFill>
              </a:rPr>
              <a:t>  ✅  Spike alerting with audit 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508760"/>
            <a:ext cx="5212080" cy="4572000"/>
          </a:xfrm>
          <a:prstGeom prst="rect">
            <a:avLst/>
          </a:prstGeom>
          <a:solidFill>
            <a:srgbClr val="E8F0F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184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3460"/>
                </a:solidFill>
              </a:rPr>
              <a:t>TOMORROW — Production AI Infusion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11680"/>
            <a:ext cx="4846320" cy="127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500">
                <a:solidFill>
                  <a:srgbClr val="0A2244"/>
                </a:solidFill>
              </a:rPr>
              <a:t>  +  AI detects when rules go stale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A2244"/>
                </a:solidFill>
              </a:rPr>
              <a:t>  +  AI classifies alert severity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A2244"/>
                </a:solidFill>
              </a:rPr>
              <a:t>  +  AI explains root cause in plain English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A2244"/>
                </a:solidFill>
              </a:rPr>
              <a:t>  +  AI suggests rule updates on drift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0A2244"/>
                </a:solidFill>
              </a:rPr>
              <a:t>  +  AI scorecard for executive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337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346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236208"/>
            <a:ext cx="1143000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Result:  A data quality platform that improves itself — governed by humans, powered by AI, built on Databricks.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3460"/>
                </a:solidFill>
              </a:rPr>
              <a:t>What We Are Asking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45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3460"/>
                </a:solidFill>
              </a:rPr>
              <a:t>Today's ask:  Validate the POC architecture and AI infusion approach.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</a:rPr>
              <a:t>•  Does the human-in-the-loop governance model align with enterprise AI adoption standards?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</a:rPr>
              <a:t>•  Is the pluggable LLM backend pattern the right approach for multi-cloud / multi-provider deployments?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</a:rPr>
              <a:t>•  Which next-stage opportunity (Drift / Scorecard / Governance) aligns best with delivery priorities?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333333"/>
                </a:solidFill>
              </a:rPr>
              <a:t>•  What production integration patterns (source systems, security, monitoring) should shape the next phase?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63500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56048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</a:rPr>
              <a:t>The POC proves the pattern works. Every component is built, tested, and running on Databricks.
The question is no longer can we do this — it is which direction do we take it next.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94560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8DADC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Databricks DQX POC  —  AI Infusion in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5 phases + alerting complete  ·  105 unit tests  ·  Production-grade architecture  ·  Ready for next 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